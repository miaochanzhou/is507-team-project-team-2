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b65e6150d020d3a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b65e6150d020d3a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706254cc0e1fcb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706254cc0e1fcb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706254cc0e1fcbd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706254cc0e1fcbd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706254cc0e1fc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706254cc0e1fc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6706254cc0e1fcbd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6706254cc0e1fcbd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706254cc0e1fcbd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706254cc0e1fcbd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706254cc0e1fc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706254cc0e1fc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6706254cc0e1fcbd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6706254cc0e1fcbd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706254cc0e1fcb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6706254cc0e1fcb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706254cc0e1fc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706254cc0e1fc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706254cc0e1fcbd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6706254cc0e1fcbd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706254cc0e1fcbd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6706254cc0e1fcbd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2b5b5b67dc968d7d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2b5b5b67dc968d7d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6706254cc0e1fc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6706254cc0e1fc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706254cc0e1fcb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6706254cc0e1fcb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6706254cc0e1fc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6706254cc0e1fc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706254cc0e1fcb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6706254cc0e1fcb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706254cc0e1fc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6706254cc0e1fc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706254cc0e1fcb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706254cc0e1fcb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competitions/m5-forecasting-accuracy/dat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55725"/>
            <a:ext cx="8520600" cy="9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</a:rPr>
              <a:t>IS 507 Midterm Presentation</a:t>
            </a:r>
            <a:endParaRPr b="1" sz="48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63625"/>
            <a:ext cx="85206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Team 2 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2050" y="2925725"/>
            <a:ext cx="86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5F05"/>
                </a:solidFill>
              </a:rPr>
              <a:t>Wenjing (Wendy) Zheng (wzheng15) &amp; Miaochan Zhou (mz103)</a:t>
            </a:r>
            <a:endParaRPr sz="1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Motivation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Food insecurity and food waste coexist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Retail demand is hard to predict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Better forecasting supports smarter stocking decisions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Accurate demand forecasting is a practical first step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Problem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286275"/>
            <a:ext cx="7907700" cy="12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Goal:</a:t>
            </a:r>
            <a:r>
              <a:rPr lang="en"/>
              <a:t> </a:t>
            </a:r>
            <a:r>
              <a:rPr lang="en" sz="1800"/>
              <a:t>Predict the daily unit sales of food items in four California stores for the next 28 days.</a:t>
            </a:r>
            <a:endParaRPr sz="180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79100" y="798700"/>
            <a:ext cx="46596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</a:rPr>
              <a:t>Prediction unit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One item in one store on one day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</a:rPr>
              <a:t>Predictors X</a:t>
            </a:r>
            <a:endParaRPr b="1"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Historical sales and rolling averages</a:t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Prices</a:t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Weekdays, months, holidays, and Supplemental Nutrition Assistance Program (SNAP) status</a:t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Item and department information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</a:rPr>
              <a:t>Outcome Y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Daily units sold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5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4788100" y="1392000"/>
            <a:ext cx="42846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Training loss and evaluation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Light Gradient Boosting Machine(LightGBM)training loss: squared prediction error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Model comparison: Mean Absolute Error (MAE) and Root Mean Squared Error (RMSE)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Lower values indicate more accurate forecasts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9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Potential Impact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268350" y="770350"/>
            <a:ext cx="8607300" cy="47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Reduce overstocking :</a:t>
            </a:r>
            <a:r>
              <a:rPr lang="en" sz="1600">
                <a:solidFill>
                  <a:schemeClr val="dk1"/>
                </a:solidFill>
              </a:rPr>
              <a:t>More accurate forecasts may help stores avoid ordering more products than customers are likely to purchase.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Reduce stockouts:</a:t>
            </a:r>
            <a:r>
              <a:rPr lang="en" sz="1600">
                <a:solidFill>
                  <a:schemeClr val="dk1"/>
                </a:solidFill>
              </a:rPr>
              <a:t>Better estimates of demand may improve product availability and reduce lost sales.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Reduce avoidable food waste:</a:t>
            </a:r>
            <a:r>
              <a:rPr lang="en" sz="1600">
                <a:solidFill>
                  <a:schemeClr val="dk1"/>
                </a:solidFill>
              </a:rPr>
              <a:t>Lower excess inventory may reduce the amount of unsold food that becomes unsuitable for sale.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Support earlier redistribution:</a:t>
            </a:r>
            <a:r>
              <a:rPr lang="en" sz="1600">
                <a:solidFill>
                  <a:schemeClr val="dk1"/>
                </a:solidFill>
              </a:rPr>
              <a:t>Earlier identification of likely surplus may provide more time to discount, redistribute, or donate safe food.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Data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17775" y="13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Overview</a:t>
            </a:r>
            <a:endParaRPr b="1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217775" y="816425"/>
            <a:ext cx="9669300" cy="44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69">
                <a:solidFill>
                  <a:schemeClr val="dk1"/>
                </a:solidFill>
              </a:rPr>
              <a:t>Source</a:t>
            </a:r>
            <a:endParaRPr b="1" sz="186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69">
                <a:solidFill>
                  <a:schemeClr val="dk1"/>
                </a:solidFill>
              </a:rPr>
              <a:t>Kaggle M5 Forecasting—Accuracy competition</a:t>
            </a:r>
            <a:endParaRPr sz="1869">
              <a:solidFill>
                <a:schemeClr val="dk1"/>
              </a:solidFill>
            </a:endParaRPr>
          </a:p>
          <a:p>
            <a:pPr indent="-34731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69"/>
              <a:buChar char="●"/>
            </a:pPr>
            <a:r>
              <a:rPr lang="en" sz="1869">
                <a:solidFill>
                  <a:schemeClr val="dk1"/>
                </a:solidFill>
              </a:rPr>
              <a:t>Link:</a:t>
            </a:r>
            <a:r>
              <a:rPr lang="en" sz="1869"/>
              <a:t> </a:t>
            </a:r>
            <a:r>
              <a:rPr lang="en" sz="1869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https://www.kaggle.com/competitions/m5-forecasting-accuracy/data</a:t>
            </a:r>
            <a:r>
              <a:rPr lang="en" sz="1869"/>
              <a:t> </a:t>
            </a:r>
            <a:endParaRPr sz="186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69">
                <a:solidFill>
                  <a:schemeClr val="dk1"/>
                </a:solidFill>
              </a:rPr>
              <a:t>Complete dataset</a:t>
            </a:r>
            <a:endParaRPr b="1" sz="1869">
              <a:solidFill>
                <a:schemeClr val="dk1"/>
              </a:solidFill>
            </a:endParaRPr>
          </a:p>
          <a:p>
            <a:pPr indent="-3473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69"/>
              <a:buChar char="●"/>
            </a:pPr>
            <a:r>
              <a:rPr lang="en" sz="1869">
                <a:solidFill>
                  <a:schemeClr val="dk1"/>
                </a:solidFill>
              </a:rPr>
              <a:t>3,049 products</a:t>
            </a:r>
            <a:endParaRPr sz="1869">
              <a:solidFill>
                <a:schemeClr val="dk1"/>
              </a:solidFill>
            </a:endParaRPr>
          </a:p>
          <a:p>
            <a:pPr indent="-3473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9"/>
              <a:buChar char="●"/>
            </a:pPr>
            <a:r>
              <a:rPr lang="en" sz="1869">
                <a:solidFill>
                  <a:schemeClr val="dk1"/>
                </a:solidFill>
              </a:rPr>
              <a:t>10 Walmart stores</a:t>
            </a:r>
            <a:endParaRPr sz="1869">
              <a:solidFill>
                <a:schemeClr val="dk1"/>
              </a:solidFill>
            </a:endParaRPr>
          </a:p>
          <a:p>
            <a:pPr indent="-3473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9"/>
              <a:buChar char="●"/>
            </a:pPr>
            <a:r>
              <a:rPr lang="en" sz="1869">
                <a:solidFill>
                  <a:schemeClr val="dk1"/>
                </a:solidFill>
              </a:rPr>
              <a:t>30,490 item-store sales series</a:t>
            </a:r>
            <a:endParaRPr sz="1869">
              <a:solidFill>
                <a:schemeClr val="dk1"/>
              </a:solidFill>
            </a:endParaRPr>
          </a:p>
          <a:p>
            <a:pPr indent="-3473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9"/>
              <a:buChar char="●"/>
            </a:pPr>
            <a:r>
              <a:rPr lang="en" sz="1869">
                <a:solidFill>
                  <a:schemeClr val="dk1"/>
                </a:solidFill>
              </a:rPr>
              <a:t>1,941 days of observed sales</a:t>
            </a:r>
            <a:endParaRPr sz="186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data look like 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calendar.csv</a:t>
            </a:r>
            <a:r>
              <a:rPr lang="en">
                <a:solidFill>
                  <a:schemeClr val="dk1"/>
                </a:solidFill>
              </a:rPr>
              <a:t>: date-related details (such as weekdays, holidays, and months) and SNAP subsidy indicators for the full 1,969-day observation period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sales_train_validation.csv</a:t>
            </a:r>
            <a:r>
              <a:rPr lang="en">
                <a:solidFill>
                  <a:schemeClr val="dk1"/>
                </a:solidFill>
              </a:rPr>
              <a:t>: historical daily unit sales for 30,490 unique records, where each record represents a specific product at a specific store, covering day 1 to day 1,913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sell_prices.csv</a:t>
            </a:r>
            <a:r>
              <a:rPr lang="en">
                <a:solidFill>
                  <a:schemeClr val="dk1"/>
                </a:solidFill>
              </a:rPr>
              <a:t>: weekly product prices for each store-product pair, containing over 6.8 million records linked by Walmart year-week IDs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sales_train_evaluation.csv</a:t>
            </a:r>
            <a:r>
              <a:rPr lang="en">
                <a:solidFill>
                  <a:schemeClr val="dk1"/>
                </a:solidFill>
              </a:rPr>
              <a:t>: extends the sales history through day 1,941 and includes the actual observed sales data for the final 28 days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Plan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Models and Baseline</a:t>
            </a:r>
            <a:endParaRPr b="1"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4364100" cy="3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28-Day Moving Average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Baseline：</a:t>
            </a:r>
            <a:r>
              <a:rPr lang="en">
                <a:solidFill>
                  <a:schemeClr val="dk1"/>
                </a:solidFill>
              </a:rPr>
              <a:t>Average sales from the previous 28 days are used to predict each of the next 28 days.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this baseline?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Simple and transparent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Reflects recent demand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Covers four weekly cycles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Easy to understand and reproduce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/>
        </p:nvSpPr>
        <p:spPr>
          <a:xfrm>
            <a:off x="4725475" y="1251425"/>
            <a:ext cx="4505100" cy="4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LightGBM (Light Gradient Boosting Machine)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Candidate Model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sales history, prices, calendar, SNAP, and product information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Builds decision trees sequentially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Each tree attempts to correct earlier prediction errors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 capture nonlinear relationships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227650" y="6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 and Evaluation Plan</a:t>
            </a:r>
            <a:endParaRPr b="1"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634200"/>
            <a:ext cx="8953500" cy="48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Data preparation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Python and Jupyter Notebook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Food products in four California stores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Reshape and merge sales, calendar, and price data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Model predictors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Lagged sales and rolling averages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Prices, dates, holidays, and SNAP status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Item and department information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Temporal evaluation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Training:</a:t>
            </a:r>
            <a:r>
              <a:rPr lang="en" sz="1500">
                <a:solidFill>
                  <a:schemeClr val="dk1"/>
                </a:solidFill>
              </a:rPr>
              <a:t> day 1 to day 1885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Validation:</a:t>
            </a:r>
            <a:r>
              <a:rPr lang="en" sz="1500">
                <a:solidFill>
                  <a:schemeClr val="dk1"/>
                </a:solidFill>
              </a:rPr>
              <a:t> day 1886 to day 1913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Test:</a:t>
            </a:r>
            <a:r>
              <a:rPr lang="en" sz="1500">
                <a:solidFill>
                  <a:schemeClr val="dk1"/>
                </a:solidFill>
              </a:rPr>
              <a:t> day 1914 to day 1941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Compare both methods using MAE and RMSE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Challenges</a:t>
            </a:r>
            <a:r>
              <a:rPr b="1" lang="en" sz="4800">
                <a:solidFill>
                  <a:srgbClr val="FF5F05"/>
                </a:solidFill>
              </a:rPr>
              <a:t>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we already see 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Many zeros in the sales data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Multiple file joins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Large file size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Different data types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we expect 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Forecasting at different levels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Adding outside factors to the model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Dealing with items that have little history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Splitting data by time, not randomly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Related work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List </a:t>
            </a:r>
            <a:endParaRPr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Makridakis, Spyros, et al. “M5 Accuracy Competition: Results, Findings, and Conclusions.” </a:t>
            </a:r>
            <a:r>
              <a:rPr i="1" lang="en">
                <a:solidFill>
                  <a:schemeClr val="dk1"/>
                </a:solidFill>
              </a:rPr>
              <a:t>International Journal of Forecasting</a:t>
            </a:r>
            <a:r>
              <a:rPr lang="en">
                <a:solidFill>
                  <a:schemeClr val="dk1"/>
                </a:solidFill>
              </a:rPr>
              <a:t>, vol. 38, no. 4, Jan. 2022, https://doi.org/10.1016/j.ijforecast.2021.11.013.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Ke, Guolin, et al. “LightGBM: A Highly Efficient Gradient Boosting Decision Tree.” </a:t>
            </a:r>
            <a:r>
              <a:rPr i="1" lang="en">
                <a:solidFill>
                  <a:schemeClr val="dk1"/>
                </a:solidFill>
              </a:rPr>
              <a:t>Neural Information Processing Systems</a:t>
            </a:r>
            <a:r>
              <a:rPr lang="en">
                <a:solidFill>
                  <a:schemeClr val="dk1"/>
                </a:solidFill>
              </a:rPr>
              <a:t>, vol. 30, Curran Associates, Inc., 2017, https://proceedings.neurips.cc/paper_files/paper/2017/hash/6449f44a102fde848669bdd9eb6b76fa-Abstract.html. Accessed 11 Oct. 2026.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Januschowski, Tim, et al. “Forecasting With Trees.” </a:t>
            </a:r>
            <a:r>
              <a:rPr i="1" lang="en">
                <a:solidFill>
                  <a:schemeClr val="dk1"/>
                </a:solidFill>
              </a:rPr>
              <a:t>Special Issue: M5 Competition</a:t>
            </a:r>
            <a:r>
              <a:rPr lang="en">
                <a:solidFill>
                  <a:schemeClr val="dk1"/>
                </a:solidFill>
              </a:rPr>
              <a:t>, vol. 38, no. 4, Oct. 2022, pp. 1473–81, https://doi.org/10.1016/j.ijforecast.2021.10.004. Accessed 11 Oct. 2026.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Deng, Tingyan, et al. “Sales Forecasting Based on LightGBM.” </a:t>
            </a:r>
            <a:r>
              <a:rPr i="1" lang="en">
                <a:solidFill>
                  <a:schemeClr val="dk1"/>
                </a:solidFill>
              </a:rPr>
              <a:t>2021 IEEE International Conference on Consumer Electronics and Computer Engineering (ICCECE)</a:t>
            </a:r>
            <a:r>
              <a:rPr lang="en">
                <a:solidFill>
                  <a:schemeClr val="dk1"/>
                </a:solidFill>
              </a:rPr>
              <a:t>, IEEE, 2021, pp. 383–86, https://doi.org/10.1109/iccece51280.2021.9342445. Accessed 11 Oct. 2026.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Q&amp;A </a:t>
            </a:r>
            <a:r>
              <a:rPr b="1" lang="en" sz="4800">
                <a:solidFill>
                  <a:srgbClr val="FF5F05"/>
                </a:solidFill>
              </a:rPr>
              <a:t>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748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ctrTitle"/>
          </p:nvPr>
        </p:nvSpPr>
        <p:spPr>
          <a:xfrm>
            <a:off x="259550" y="2099550"/>
            <a:ext cx="8520600" cy="9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5F05"/>
                </a:solidFill>
              </a:rPr>
              <a:t>Thank you! </a:t>
            </a:r>
            <a:r>
              <a:rPr b="1" lang="en" sz="4800">
                <a:solidFill>
                  <a:srgbClr val="FF5F05"/>
                </a:solidFill>
              </a:rPr>
              <a:t>  </a:t>
            </a:r>
            <a:endParaRPr b="1" sz="4800">
              <a:solidFill>
                <a:srgbClr val="FF5F0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